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sldIdLst>
    <p:sldId id="274" r:id="rId2"/>
    <p:sldId id="316" r:id="rId3"/>
    <p:sldId id="317" r:id="rId4"/>
    <p:sldId id="319" r:id="rId5"/>
    <p:sldId id="318" r:id="rId6"/>
    <p:sldId id="306" r:id="rId7"/>
    <p:sldId id="304" r:id="rId8"/>
    <p:sldId id="307" r:id="rId9"/>
    <p:sldId id="310" r:id="rId10"/>
    <p:sldId id="311" r:id="rId11"/>
    <p:sldId id="312" r:id="rId12"/>
    <p:sldId id="313" r:id="rId13"/>
    <p:sldId id="314" r:id="rId14"/>
    <p:sldId id="315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5fGyy4zZkOOESKp/AFRYgg==" hashData="3OPyWrW6Ccr9Kd9IQvxOUfKVHix3c/00TF4rrrjcUua7uG8CcbGBUNuIBDI59LGeHNEnxGJjtKod1fbvgnxbg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572" autoAdjust="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Role</a:t>
            </a:r>
            <a:r>
              <a:rPr lang="en-US" dirty="0" smtClean="0"/>
              <a:t> – Who the AI should be</a:t>
            </a:r>
          </a:p>
          <a:p>
            <a:r>
              <a:rPr lang="en-US" b="1" dirty="0" smtClean="0"/>
              <a:t>Task</a:t>
            </a:r>
            <a:r>
              <a:rPr lang="en-US" dirty="0" smtClean="0"/>
              <a:t> – What needs to be done</a:t>
            </a:r>
          </a:p>
          <a:p>
            <a:r>
              <a:rPr lang="en-US" b="1" dirty="0" smtClean="0"/>
              <a:t>Instruction</a:t>
            </a:r>
            <a:r>
              <a:rPr lang="en-US" dirty="0" smtClean="0"/>
              <a:t> – How it should be done</a:t>
            </a:r>
          </a:p>
          <a:p>
            <a:r>
              <a:rPr lang="en-US" b="1" dirty="0" smtClean="0"/>
              <a:t>Input</a:t>
            </a:r>
            <a:r>
              <a:rPr lang="en-US" dirty="0" smtClean="0"/>
              <a:t> – Data to operate on</a:t>
            </a:r>
          </a:p>
          <a:p>
            <a:r>
              <a:rPr lang="en-US" b="1" dirty="0" smtClean="0"/>
              <a:t>Context</a:t>
            </a:r>
            <a:r>
              <a:rPr lang="en-US" dirty="0" smtClean="0"/>
              <a:t> – Background / constraints / audience</a:t>
            </a:r>
          </a:p>
          <a:p>
            <a:r>
              <a:rPr lang="en-US" b="1" dirty="0" smtClean="0"/>
              <a:t>Output Format</a:t>
            </a:r>
            <a:r>
              <a:rPr lang="en-US" dirty="0" smtClean="0"/>
              <a:t> – How the response should look </a:t>
            </a:r>
            <a:r>
              <a:rPr lang="en-US" i="1" dirty="0" smtClean="0"/>
              <a:t>(optional but useful)</a:t>
            </a:r>
            <a:endParaRPr lang="en-US" dirty="0" smtClean="0"/>
          </a:p>
          <a:p>
            <a:r>
              <a:rPr lang="en-US" dirty="0" smtClean="0"/>
              <a:t>You are a professional chef.</a:t>
            </a:r>
          </a:p>
          <a:p>
            <a:r>
              <a:rPr lang="en-US" dirty="0" smtClean="0"/>
              <a:t>Cook a dish using the given ingredients.</a:t>
            </a:r>
          </a:p>
          <a:p>
            <a:r>
              <a:rPr lang="en-US" dirty="0" smtClean="0"/>
              <a:t>Prepare a simple, step-by-step recipe suitable for beginners.</a:t>
            </a:r>
          </a:p>
          <a:p>
            <a:r>
              <a:rPr lang="en-US" dirty="0" smtClean="0"/>
              <a:t>Ingredients: tomatoes, onions, garlic, olive oil, salt.</a:t>
            </a:r>
          </a:p>
          <a:p>
            <a:r>
              <a:rPr lang="en-US" dirty="0" smtClean="0"/>
              <a:t>The dish should be vegetarian and light.</a:t>
            </a:r>
          </a:p>
          <a:p>
            <a:r>
              <a:rPr lang="en-US" dirty="0" smtClean="0"/>
              <a:t>Present the recipe in numbered steps with a serving suggestion.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38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Role</a:t>
            </a:r>
            <a:r>
              <a:rPr lang="en-US" dirty="0" smtClean="0"/>
              <a:t> – Who the AI should be</a:t>
            </a:r>
          </a:p>
          <a:p>
            <a:r>
              <a:rPr lang="en-US" b="1" dirty="0" smtClean="0"/>
              <a:t>Task</a:t>
            </a:r>
            <a:r>
              <a:rPr lang="en-US" dirty="0" smtClean="0"/>
              <a:t> – What needs to be done</a:t>
            </a:r>
          </a:p>
          <a:p>
            <a:r>
              <a:rPr lang="en-US" b="1" dirty="0" smtClean="0"/>
              <a:t>Instruction</a:t>
            </a:r>
            <a:r>
              <a:rPr lang="en-US" dirty="0" smtClean="0"/>
              <a:t> – How it should be done</a:t>
            </a:r>
          </a:p>
          <a:p>
            <a:r>
              <a:rPr lang="en-US" b="1" dirty="0" smtClean="0"/>
              <a:t>Input</a:t>
            </a:r>
            <a:r>
              <a:rPr lang="en-US" dirty="0" smtClean="0"/>
              <a:t> – Data to operate on</a:t>
            </a:r>
          </a:p>
          <a:p>
            <a:r>
              <a:rPr lang="en-US" b="1" dirty="0" smtClean="0"/>
              <a:t>Context</a:t>
            </a:r>
            <a:r>
              <a:rPr lang="en-US" dirty="0" smtClean="0"/>
              <a:t> – Background / constraints / audience</a:t>
            </a:r>
          </a:p>
          <a:p>
            <a:r>
              <a:rPr lang="en-US" b="1" dirty="0" smtClean="0"/>
              <a:t>Output Format</a:t>
            </a:r>
            <a:r>
              <a:rPr lang="en-US" dirty="0" smtClean="0"/>
              <a:t> – How the response should look </a:t>
            </a:r>
            <a:r>
              <a:rPr lang="en-US" i="1" dirty="0" smtClean="0"/>
              <a:t>(optional but useful)</a:t>
            </a:r>
            <a:endParaRPr lang="en-US" dirty="0" smtClean="0"/>
          </a:p>
          <a:p>
            <a:r>
              <a:rPr lang="en-US" dirty="0" smtClean="0"/>
              <a:t>You are a professional chef.</a:t>
            </a:r>
          </a:p>
          <a:p>
            <a:r>
              <a:rPr lang="en-US" dirty="0" smtClean="0"/>
              <a:t>Cook a dish using the given ingredients.</a:t>
            </a:r>
          </a:p>
          <a:p>
            <a:r>
              <a:rPr lang="en-US" dirty="0" smtClean="0"/>
              <a:t>Prepare a simple, step-by-step recipe suitable for beginners.</a:t>
            </a:r>
          </a:p>
          <a:p>
            <a:r>
              <a:rPr lang="en-US" dirty="0" smtClean="0"/>
              <a:t>Ingredients: tomatoes, onions, garlic, olive oil, salt.</a:t>
            </a:r>
          </a:p>
          <a:p>
            <a:r>
              <a:rPr lang="en-US" dirty="0" smtClean="0"/>
              <a:t>The dish should be vegetarian and light.</a:t>
            </a:r>
          </a:p>
          <a:p>
            <a:r>
              <a:rPr lang="en-US" dirty="0" smtClean="0"/>
              <a:t>Present the recipe in numbered steps with a serving suggestion.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98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Role</a:t>
            </a:r>
            <a:r>
              <a:rPr lang="en-US" dirty="0" smtClean="0"/>
              <a:t> – Who the AI should be</a:t>
            </a:r>
          </a:p>
          <a:p>
            <a:r>
              <a:rPr lang="en-US" b="1" dirty="0" smtClean="0"/>
              <a:t>Task</a:t>
            </a:r>
            <a:r>
              <a:rPr lang="en-US" dirty="0" smtClean="0"/>
              <a:t> – What needs to be done</a:t>
            </a:r>
          </a:p>
          <a:p>
            <a:r>
              <a:rPr lang="en-US" b="1" dirty="0" smtClean="0"/>
              <a:t>Instruction</a:t>
            </a:r>
            <a:r>
              <a:rPr lang="en-US" dirty="0" smtClean="0"/>
              <a:t> – How it should be done</a:t>
            </a:r>
          </a:p>
          <a:p>
            <a:r>
              <a:rPr lang="en-US" b="1" dirty="0" smtClean="0"/>
              <a:t>Input</a:t>
            </a:r>
            <a:r>
              <a:rPr lang="en-US" dirty="0" smtClean="0"/>
              <a:t> – Data to operate on</a:t>
            </a:r>
          </a:p>
          <a:p>
            <a:r>
              <a:rPr lang="en-US" b="1" dirty="0" smtClean="0"/>
              <a:t>Context</a:t>
            </a:r>
            <a:r>
              <a:rPr lang="en-US" dirty="0" smtClean="0"/>
              <a:t> – Background / constraints / audience</a:t>
            </a:r>
          </a:p>
          <a:p>
            <a:r>
              <a:rPr lang="en-US" b="1" dirty="0" smtClean="0"/>
              <a:t>Output Format</a:t>
            </a:r>
            <a:r>
              <a:rPr lang="en-US" dirty="0" smtClean="0"/>
              <a:t> – How the response should look </a:t>
            </a:r>
            <a:r>
              <a:rPr lang="en-US" i="1" dirty="0" smtClean="0"/>
              <a:t>(optional but useful)</a:t>
            </a:r>
            <a:endParaRPr lang="en-US" dirty="0" smtClean="0"/>
          </a:p>
          <a:p>
            <a:r>
              <a:rPr lang="en-US" dirty="0" smtClean="0"/>
              <a:t>You are a professional chef.</a:t>
            </a:r>
          </a:p>
          <a:p>
            <a:r>
              <a:rPr lang="en-US" dirty="0" smtClean="0"/>
              <a:t>Cook a dish using the given ingredients.</a:t>
            </a:r>
          </a:p>
          <a:p>
            <a:r>
              <a:rPr lang="en-US" dirty="0" smtClean="0"/>
              <a:t>Prepare a simple, step-by-step recipe suitable for beginners.</a:t>
            </a:r>
          </a:p>
          <a:p>
            <a:r>
              <a:rPr lang="en-US" dirty="0" smtClean="0"/>
              <a:t>Ingredients: tomatoes, onions, garlic, olive oil, salt.</a:t>
            </a:r>
          </a:p>
          <a:p>
            <a:r>
              <a:rPr lang="en-US" dirty="0" smtClean="0"/>
              <a:t>The dish should be vegetarian and light.</a:t>
            </a:r>
          </a:p>
          <a:p>
            <a:r>
              <a:rPr lang="en-US" dirty="0" smtClean="0"/>
              <a:t>Present the recipe in numbered steps with a serving suggestion.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85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Role</a:t>
            </a:r>
            <a:r>
              <a:rPr lang="en-US" dirty="0" smtClean="0"/>
              <a:t> – Who the AI should be</a:t>
            </a:r>
          </a:p>
          <a:p>
            <a:r>
              <a:rPr lang="en-US" b="1" dirty="0" smtClean="0"/>
              <a:t>Task</a:t>
            </a:r>
            <a:r>
              <a:rPr lang="en-US" dirty="0" smtClean="0"/>
              <a:t> – What needs to be done</a:t>
            </a:r>
          </a:p>
          <a:p>
            <a:r>
              <a:rPr lang="en-US" b="1" dirty="0" smtClean="0"/>
              <a:t>Instruction</a:t>
            </a:r>
            <a:r>
              <a:rPr lang="en-US" dirty="0" smtClean="0"/>
              <a:t> – How it should be done</a:t>
            </a:r>
          </a:p>
          <a:p>
            <a:r>
              <a:rPr lang="en-US" b="1" dirty="0" smtClean="0"/>
              <a:t>Input</a:t>
            </a:r>
            <a:r>
              <a:rPr lang="en-US" dirty="0" smtClean="0"/>
              <a:t> – Data to operate on</a:t>
            </a:r>
          </a:p>
          <a:p>
            <a:r>
              <a:rPr lang="en-US" b="1" dirty="0" smtClean="0"/>
              <a:t>Context</a:t>
            </a:r>
            <a:r>
              <a:rPr lang="en-US" dirty="0" smtClean="0"/>
              <a:t> – Background / constraints / audience</a:t>
            </a:r>
          </a:p>
          <a:p>
            <a:r>
              <a:rPr lang="en-US" b="1" dirty="0" smtClean="0"/>
              <a:t>Output Format</a:t>
            </a:r>
            <a:r>
              <a:rPr lang="en-US" dirty="0" smtClean="0"/>
              <a:t> – How the response should look </a:t>
            </a:r>
            <a:r>
              <a:rPr lang="en-US" i="1" dirty="0" smtClean="0"/>
              <a:t>(optional but useful)</a:t>
            </a:r>
            <a:endParaRPr lang="en-US" dirty="0" smtClean="0"/>
          </a:p>
          <a:p>
            <a:r>
              <a:rPr lang="en-US" dirty="0" smtClean="0"/>
              <a:t>You are a professional chef.</a:t>
            </a:r>
          </a:p>
          <a:p>
            <a:r>
              <a:rPr lang="en-US" dirty="0" smtClean="0"/>
              <a:t>Cook a dish using the given ingredients.</a:t>
            </a:r>
          </a:p>
          <a:p>
            <a:r>
              <a:rPr lang="en-US" dirty="0" smtClean="0"/>
              <a:t>Prepare a simple, step-by-step recipe suitable for beginners.</a:t>
            </a:r>
          </a:p>
          <a:p>
            <a:r>
              <a:rPr lang="en-US" dirty="0" smtClean="0"/>
              <a:t>Ingredients: tomatoes, onions, garlic, olive oil, salt.</a:t>
            </a:r>
          </a:p>
          <a:p>
            <a:r>
              <a:rPr lang="en-US" dirty="0" smtClean="0"/>
              <a:t>The dish should be vegetarian and light.</a:t>
            </a:r>
          </a:p>
          <a:p>
            <a:r>
              <a:rPr lang="en-US" dirty="0" smtClean="0"/>
              <a:t>Present the recipe in numbered steps with a serving suggestion.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191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04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2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374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832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52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13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Thought: I need to find who won the 2023 FIFA World Cup.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Action: Search["2023 FIFA World Cup winner"]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Observation: The search result says Argentina won the 2022 World Cup; 2023 was a Women's World Cup, won by Spain.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Thought: Therefore, the answer is Spain.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Final Answer: Spain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42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</a:t>
            </a:r>
            <a:r>
              <a:rPr lang="en-US" b="1" dirty="0" smtClean="0"/>
              <a:t>run the same prompt multiple times</a:t>
            </a:r>
            <a:r>
              <a:rPr lang="en-US" dirty="0" smtClean="0"/>
              <a:t> — for example, n = 10 completions using the same model.</a:t>
            </a:r>
          </a:p>
          <a:p>
            <a:pPr lvl="1"/>
            <a:r>
              <a:rPr lang="en-US" dirty="0" smtClean="0"/>
              <a:t>Each run is slightly different because you set temperature &gt; 0 (so the model explores multiple reasoning paths).</a:t>
            </a:r>
          </a:p>
          <a:p>
            <a:r>
              <a:rPr lang="en-US" dirty="0" smtClean="0"/>
              <a:t>You then </a:t>
            </a:r>
            <a:r>
              <a:rPr lang="en-US" b="1" dirty="0" smtClean="0"/>
              <a:t>collect all the outputs</a:t>
            </a:r>
            <a:r>
              <a:rPr lang="en-US" dirty="0" smtClean="0"/>
              <a:t> — say, 10 possible answers or reasoning chains.</a:t>
            </a:r>
          </a:p>
          <a:p>
            <a:r>
              <a:rPr lang="en-US" dirty="0" smtClean="0"/>
              <a:t>You </a:t>
            </a:r>
            <a:r>
              <a:rPr lang="en-US" b="1" dirty="0" smtClean="0"/>
              <a:t>analyze those results yourself (outside the model)</a:t>
            </a:r>
            <a:r>
              <a:rPr lang="en-US" dirty="0" smtClean="0"/>
              <a:t> — this could be done via:</a:t>
            </a:r>
          </a:p>
          <a:p>
            <a:pPr lvl="1"/>
            <a:r>
              <a:rPr lang="en-US" dirty="0" smtClean="0"/>
              <a:t>A simple </a:t>
            </a:r>
            <a:r>
              <a:rPr lang="en-US" b="1" dirty="0" smtClean="0"/>
              <a:t>majority vote</a:t>
            </a:r>
            <a:r>
              <a:rPr lang="en-US" dirty="0" smtClean="0"/>
              <a:t> on the final answer (most common result wins), or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scoring function</a:t>
            </a:r>
            <a:r>
              <a:rPr lang="en-US" dirty="0" smtClean="0"/>
              <a:t> that checks which answer best fits certain criteria (e.g., numerical accuracy).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model itself</a:t>
            </a:r>
            <a:r>
              <a:rPr lang="en-US" dirty="0" smtClean="0"/>
              <a:t> doesn’t decide which is best — </a:t>
            </a:r>
            <a:r>
              <a:rPr lang="en-US" b="1" dirty="0" smtClean="0"/>
              <a:t>you (or your code)</a:t>
            </a:r>
            <a:r>
              <a:rPr lang="en-US" dirty="0" smtClean="0"/>
              <a:t> do that selection.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624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032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0069" y="1151793"/>
            <a:ext cx="6105194" cy="2554946"/>
          </a:xfrm>
        </p:spPr>
        <p:txBody>
          <a:bodyPr>
            <a:normAutofit fontScale="90000"/>
          </a:bodyPr>
          <a:lstStyle/>
          <a:p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 AI</a:t>
            </a:r>
            <a:b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Engineering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399547" y="4520418"/>
            <a:ext cx="4445785" cy="687026"/>
            <a:chOff x="3614024" y="4908823"/>
            <a:chExt cx="4445785" cy="687026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 smtClean="0"/>
                <a:t>By</a:t>
              </a:r>
              <a:endParaRPr lang="en-US" sz="18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2364" y="5006291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Components of prompt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4900" y="923239"/>
            <a:ext cx="9829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 Role (Who the AI should be?)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Defines the persona, expertise, or perspective the AI should assume while responding.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helps control tone, depth, and style of the output.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“You are a subject-matter expert in artificial intelligence explaining concepts to beginners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Task (What needs to be done?)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overall objective or purpose of the prompt.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Clearly states what the AI is expected to accomplish.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“Generate a summary of an article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 Instruction (How should the task be performed?)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Specifies how the task should be executed, including rules, limits, or style.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“Summarize the article in no more than 100 words, keeping the key points intact.”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769030" y="5366214"/>
            <a:ext cx="10508570" cy="1118318"/>
            <a:chOff x="1102405" y="2002759"/>
            <a:chExt cx="10508570" cy="1118318"/>
          </a:xfrm>
        </p:grpSpPr>
        <p:sp>
          <p:nvSpPr>
            <p:cNvPr id="21" name="Rectangle 20"/>
            <p:cNvSpPr/>
            <p:nvPr/>
          </p:nvSpPr>
          <p:spPr>
            <a:xfrm>
              <a:off x="6558917" y="2659412"/>
              <a:ext cx="154405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Actual content, dataset, image</a:t>
              </a:r>
              <a:endParaRPr lang="en-IN" sz="1200" dirty="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856958" y="2062269"/>
              <a:ext cx="1478455" cy="49276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Task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676600" y="2062268"/>
              <a:ext cx="1478455" cy="49276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Instruction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496242" y="2072078"/>
              <a:ext cx="1478455" cy="49584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316746" y="2032867"/>
              <a:ext cx="1478455" cy="52216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context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21243" y="2738793"/>
              <a:ext cx="141417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Action or  process</a:t>
              </a:r>
              <a:endParaRPr lang="en-IN" sz="12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752023" y="2751746"/>
              <a:ext cx="132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Rules to process</a:t>
              </a:r>
              <a:endParaRPr lang="en-IN" sz="1200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440378" y="2683702"/>
              <a:ext cx="16120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Background Info</a:t>
              </a:r>
              <a:endParaRPr lang="en-IN" sz="1200"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102405" y="2062269"/>
              <a:ext cx="1478455" cy="5056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Role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100796" y="2002759"/>
              <a:ext cx="1478455" cy="5286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Output Format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342253" y="2797792"/>
              <a:ext cx="87831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Who </a:t>
              </a:r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is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AI </a:t>
              </a:r>
              <a:endParaRPr lang="en-IN" sz="12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123067" y="2683701"/>
              <a:ext cx="14879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How response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look</a:t>
              </a:r>
              <a:endParaRPr lang="en-I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0041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Components of prompt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4900" y="923239"/>
            <a:ext cx="98298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4. Input (What data is provided to perform the task?)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actual content or information on which the AI operates.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“The article text: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‘AI is transforming industries by automating tasks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…’”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5. Context (Additional details that help improve accuracy)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Background information, constraints, target audience, or usage scenario that refines the response.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“This summary is intended for a general audience with no technical background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6. Output Format (How should the response look?)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Defines the structure, layout, or presentation style of the final output.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“Present the summary as a single paragraph using simple language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“Get the change for 1000 in 100 rupees notes”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00770" y="5370960"/>
            <a:ext cx="10508570" cy="1118318"/>
            <a:chOff x="1102405" y="2002759"/>
            <a:chExt cx="10508570" cy="1118318"/>
          </a:xfrm>
        </p:grpSpPr>
        <p:sp>
          <p:nvSpPr>
            <p:cNvPr id="9" name="Rectangle 8"/>
            <p:cNvSpPr/>
            <p:nvPr/>
          </p:nvSpPr>
          <p:spPr>
            <a:xfrm>
              <a:off x="6558917" y="2659412"/>
              <a:ext cx="154405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Actual content, dataset, image</a:t>
              </a:r>
              <a:endParaRPr lang="en-IN" sz="1200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6958" y="2062269"/>
              <a:ext cx="1478455" cy="49276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Task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676600" y="2062268"/>
              <a:ext cx="1478455" cy="49276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Instruction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496242" y="2072078"/>
              <a:ext cx="1478455" cy="49584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316746" y="2032867"/>
              <a:ext cx="1478455" cy="52216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context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21243" y="2738793"/>
              <a:ext cx="141417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Action or  process</a:t>
              </a:r>
              <a:endParaRPr lang="en-IN" sz="12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52023" y="2751746"/>
              <a:ext cx="13276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Rules to process</a:t>
              </a:r>
              <a:endParaRPr lang="en-IN" sz="12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40378" y="2683702"/>
              <a:ext cx="16120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Background Info</a:t>
              </a:r>
              <a:endParaRPr lang="en-IN" sz="1200"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102405" y="2062269"/>
              <a:ext cx="1478455" cy="5056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Role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100796" y="2002759"/>
              <a:ext cx="1478455" cy="5286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Output Format</a:t>
              </a:r>
              <a:endParaRPr lang="en-IN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42253" y="2797792"/>
              <a:ext cx="87831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Who </a:t>
              </a:r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is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AI </a:t>
              </a:r>
              <a:endParaRPr lang="en-IN" sz="12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123067" y="2683701"/>
              <a:ext cx="14879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How response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look</a:t>
              </a:r>
              <a:endParaRPr lang="en-I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27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 Example 1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4900" y="923239"/>
            <a:ext cx="98298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Role: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are an experienced computer science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trainer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who explains technical topics in a simple way.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Explain the given concept clearly.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Instruction: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1. Start with a simple definition.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 Explain the concept step-by-step.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3. Provide a real-world analogy.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4. Give a short example.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Concept: Neural Networks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explanation is for beginners who have no background in artificial intelligence.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Output Format: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&lt;simple definition&gt;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&lt;step-by-step explanation&gt;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Analogy: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&lt;real-world analogy&gt;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&lt;short example&gt;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92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Prompt Example 2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4900" y="923239"/>
            <a:ext cx="9829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Role: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are a professional data analyst specializing in retail analytics.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Analyze the sales data and identify the best and worst performing products.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Instruction: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1. Determine the product with the highest revenue.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2. Determine the product with the lowest revenue.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3. Provide one insight about the sales trend.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A – Revenue: $5000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B – Revenue: $2000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C – Revenue: $7000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D – Revenue: $1500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analysis will be shown to a retail store manager who wants quick insights to improve product sales.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Output Format: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Top Product: &lt;product name&gt; – &lt;revenue&gt;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Lowest Product: &lt;product name&gt; – &lt;revenue&gt;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Key Insight: &lt;short explanation&gt;</a:t>
            </a:r>
          </a:p>
        </p:txBody>
      </p:sp>
    </p:spTree>
    <p:extLst>
      <p:ext uri="{BB962C8B-B14F-4D97-AF65-F5344CB8AC3E}">
        <p14:creationId xmlns:p14="http://schemas.microsoft.com/office/powerpoint/2010/main" val="429096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 parameters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86" y="1269998"/>
            <a:ext cx="7203343" cy="524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485"/>
            <a:ext cx="9144000" cy="661832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Terminology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819065"/>
              </p:ext>
            </p:extLst>
          </p:nvPr>
        </p:nvGraphicFramePr>
        <p:xfrm>
          <a:off x="884900" y="1122788"/>
          <a:ext cx="9930584" cy="264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65292">
                  <a:extLst>
                    <a:ext uri="{9D8B030D-6E8A-4147-A177-3AD203B41FA5}">
                      <a16:colId xmlns:a16="http://schemas.microsoft.com/office/drawing/2014/main" val="1271426174"/>
                    </a:ext>
                  </a:extLst>
                </a:gridCol>
                <a:gridCol w="4965292">
                  <a:extLst>
                    <a:ext uri="{9D8B030D-6E8A-4147-A177-3AD203B41FA5}">
                      <a16:colId xmlns:a16="http://schemas.microsoft.com/office/drawing/2014/main" val="3308227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654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Instructions + context; what you send to the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34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Tokens the model produces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04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 window / Max sequence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tokens model can handle at once = prompt +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897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max_tokens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</a:t>
                      </a:r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max_output_tokens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Limits how long the model output can be; must fit inside context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36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Parameters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temperature, top-p, </a:t>
                      </a:r>
                      <a:r>
                        <a:rPr lang="en-IN" sz="16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max_output_tokens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701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68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 Engineering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2000" y="1346066"/>
            <a:ext cx="957942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Engineering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the art of designing inputs for LLMs (like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to obtain desired responses. 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 Engineering Techniques :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Zero-Shot Prompting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Few-Shot Prompting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Chain-of-Thought (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Prompting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(Reasoning + Acting)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Self-Consistency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Instruction-Based Prompting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Role-Based Prompting </a:t>
            </a:r>
          </a:p>
        </p:txBody>
      </p:sp>
    </p:spTree>
    <p:extLst>
      <p:ext uri="{BB962C8B-B14F-4D97-AF65-F5344CB8AC3E}">
        <p14:creationId xmlns:p14="http://schemas.microsoft.com/office/powerpoint/2010/main" val="317886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ero Shot Prompting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81742" y="1186540"/>
            <a:ext cx="957942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Zero-shot prompting relies on the model’s pre-trained knowledge to answer queries without providing examples.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"What is the capital of France?"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Response: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"The capital of France is Paris."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Case: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Simple fact-based queries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General knowledge retrieval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Struggles with tasks requiring context or reasoning</a:t>
            </a:r>
          </a:p>
        </p:txBody>
      </p:sp>
    </p:spTree>
    <p:extLst>
      <p:ext uri="{BB962C8B-B14F-4D97-AF65-F5344CB8AC3E}">
        <p14:creationId xmlns:p14="http://schemas.microsoft.com/office/powerpoint/2010/main" val="60964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Few Shot Prompting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2000" y="1372380"/>
            <a:ext cx="957942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Providing a few examples to guide the model on the desired format and reasoning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"Classify the following texts as Positive or Negative sentiment: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'I love this product!' → Positive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'This is the worst experience ever!' → Negative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'I am very happy with my purchase.' →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?"*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Response: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"Positive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Sentiment analysis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Text classification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Pattern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Requires carefully selected examples</a:t>
            </a:r>
          </a:p>
        </p:txBody>
      </p:sp>
    </p:spTree>
    <p:extLst>
      <p:ext uri="{BB962C8B-B14F-4D97-AF65-F5344CB8AC3E}">
        <p14:creationId xmlns:p14="http://schemas.microsoft.com/office/powerpoint/2010/main" val="18102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Chain of Thought (</a:t>
            </a:r>
            <a:r>
              <a:rPr lang="en-US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2000" y="1126161"/>
            <a:ext cx="9579429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Chain-of-Thought (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Encouraging the model to break down reasoning into intermediate steps before answering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"A farmer has 3 baskets. Each basket contains 5 apples. If he gives away 4 apples, how many apples remain? Let's think step by step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Response: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"Step 1: The farmer starts with 3 baskets × 5 apples = 15 apples.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2: He gives away 4 apples.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3: 15 - 4 = 11 apples remain.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Final Answer: 11 apples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Complex math problems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Logical reasoning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Requires structured reasoning tasks</a:t>
            </a:r>
          </a:p>
        </p:txBody>
      </p:sp>
    </p:spTree>
    <p:extLst>
      <p:ext uri="{BB962C8B-B14F-4D97-AF65-F5344CB8AC3E}">
        <p14:creationId xmlns:p14="http://schemas.microsoft.com/office/powerpoint/2010/main" val="410403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2000" y="1249273"/>
            <a:ext cx="957942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(Reasoning + Acting</a:t>
            </a:r>
            <a:r>
              <a:rPr lang="en-US" sz="1600" b="1" smtClean="0">
                <a:latin typeface="Arial" panose="020B0604020202020204" pitchFamily="34" charset="0"/>
                <a:cs typeface="Arial" panose="020B0604020202020204" pitchFamily="34" charset="0"/>
              </a:rPr>
              <a:t>)  Reason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→ Action → Observation → Response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Combining reasoning with action by making the model think, retrieve, and act iteratively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"Who won the 2023 FIFA World Cup? Think step by step and search if needed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Response (simulating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"Step 1: The last FIFA World Cup was held in 2022, and Argentina won.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2: Let me check the 2023 winner (simulated search).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3: The 2023 FIFA Women's World Cup was won by Spain.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Final Answer: Spain won the 2023 FIFA Women's World Cup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Dynamic decision-making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Research-based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reasoning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Needs external search for live data</a:t>
            </a:r>
          </a:p>
        </p:txBody>
      </p:sp>
    </p:spTree>
    <p:extLst>
      <p:ext uri="{BB962C8B-B14F-4D97-AF65-F5344CB8AC3E}">
        <p14:creationId xmlns:p14="http://schemas.microsoft.com/office/powerpoint/2010/main" val="376273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Self-Consistency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2000" y="1003054"/>
            <a:ext cx="9579429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same prompt multiple times 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"If a train travels 100 miles in 2 hours, what is its speed? 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"If a train travels 100 miles in 2 hours, what is its speed? Solve using two different methods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 &lt;not exactly a self consistency)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Response: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Method 1: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"Speed = Distance ÷ Time = 100 miles ÷ 2 hours = 50 mph."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Method 2: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"If the train covers 100 miles in 2 hours, in 1 hour it covers 50 miles. So, the speed is 50 mph."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"Final Answer: 50 mph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Reducing hallucinations in reasoning tasks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Improving mathematical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Can be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237589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US" sz="3200" b="1" smtClean="0">
                <a:latin typeface="Arial" panose="020B0604020202020204" pitchFamily="34" charset="0"/>
                <a:cs typeface="Arial" panose="020B0604020202020204" pitchFamily="34" charset="0"/>
              </a:rPr>
              <a:t>useful Techniques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14400" y="1208318"/>
            <a:ext cx="957942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Instruction-Based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Instead of a vague query, clearly instruct the model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❌ "Summarize this article."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✅ "Summarize this article in three bullet points, each under 20 words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Role-Based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Assigning a persona to the model to align responses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"You are a cybersecurity expert. Explain the importance of multi-factor authentication in banking security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.“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By using these techniques, you can significantly improve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LLM’s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responses for different use cases like NLP tasks, logical reasoning, and automation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1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Microsoft Office PowerPoint</Application>
  <PresentationFormat>Widescreen</PresentationFormat>
  <Paragraphs>284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Gen AI Prompt Engineering</vt:lpstr>
      <vt:lpstr>Components of prompt</vt:lpstr>
      <vt:lpstr>Components of prompt</vt:lpstr>
      <vt:lpstr>Prompt Example 1</vt:lpstr>
      <vt:lpstr>Prompt Example 2</vt:lpstr>
      <vt:lpstr>Prompt parameters</vt:lpstr>
      <vt:lpstr>Terminology</vt:lpstr>
      <vt:lpstr>Prompt Engineering</vt:lpstr>
      <vt:lpstr>Zero Shot Prompting</vt:lpstr>
      <vt:lpstr>Few Shot Prompting</vt:lpstr>
      <vt:lpstr>Chain of Thought (CoT)</vt:lpstr>
      <vt:lpstr>ReAct</vt:lpstr>
      <vt:lpstr>Self-Consistency</vt:lpstr>
      <vt:lpstr>Other useful Techniques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493</cp:revision>
  <dcterms:created xsi:type="dcterms:W3CDTF">2024-09-04T04:29:20Z</dcterms:created>
  <dcterms:modified xsi:type="dcterms:W3CDTF">2026-03-17T15:02:42Z</dcterms:modified>
</cp:coreProperties>
</file>